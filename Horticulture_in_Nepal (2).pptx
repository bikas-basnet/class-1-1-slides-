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67" r:id="rId5"/>
    <p:sldId id="266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kas Basnet" initials="BB" lastIdx="1" clrIdx="0">
    <p:extLst>
      <p:ext uri="{19B8F6BF-5375-455C-9EA6-DF929625EA0E}">
        <p15:presenceInfo xmlns:p15="http://schemas.microsoft.com/office/powerpoint/2012/main" userId="74668543c95b1b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14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Layouts/slideLayout1.xml" Type="http://schemas.openxmlformats.org/officeDocument/2006/relationships/slideLayout"/><Relationship Id="rId4" Target="../media/image3.jpeg" Type="http://schemas.openxmlformats.org/officeDocument/2006/relationships/image"/></Relationships>
</file>

<file path=ppt/slides/_rels/slide2.xml.rels><?xml version="1.0" encoding="UTF-8" standalone="yes" ?><Relationships xmlns="http://schemas.openxmlformats.org/package/2006/relationships"><Relationship Id="rId8" Target="../media/image10.jpeg" Type="http://schemas.openxmlformats.org/officeDocument/2006/relationships/image"/><Relationship Id="rId3" Target="../media/image5.jpeg" Type="http://schemas.openxmlformats.org/officeDocument/2006/relationships/image"/><Relationship Id="rId7" Target="../media/image9.jpeg" Type="http://schemas.openxmlformats.org/officeDocument/2006/relationships/image"/><Relationship Id="rId2" Target="../media/image4.jpeg" Type="http://schemas.openxmlformats.org/officeDocument/2006/relationships/image"/><Relationship Id="rId1" Target="../slideLayouts/slideLayout2.xml" Type="http://schemas.openxmlformats.org/officeDocument/2006/relationships/slideLayout"/><Relationship Id="rId6" Target="../media/image8.jpeg" Type="http://schemas.openxmlformats.org/officeDocument/2006/relationships/image"/><Relationship Id="rId5" Target="../media/image7.jpeg" Type="http://schemas.openxmlformats.org/officeDocument/2006/relationships/image"/><Relationship Id="rId10" Target="../media/image12.jpeg" Type="http://schemas.openxmlformats.org/officeDocument/2006/relationships/image"/><Relationship Id="rId4" Target="../media/image6.jpeg" Type="http://schemas.openxmlformats.org/officeDocument/2006/relationships/image"/><Relationship Id="rId9" Target="../media/image11.jpeg" Type="http://schemas.openxmlformats.org/officeDocument/2006/relationships/image"/></Relationships>
</file>

<file path=ppt/slides/_rels/slide3.xml.rels><?xml version="1.0" encoding="UTF-8" standalone="yes" ?><Relationships xmlns="http://schemas.openxmlformats.org/package/2006/relationships"><Relationship Id="rId2" Target="../media/image13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4.xml.rels><?xml version="1.0" encoding="UTF-8" standalone="yes" ?><Relationships xmlns="http://schemas.openxmlformats.org/package/2006/relationships"><Relationship Id="rId2" Target="../media/image14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5.xml.rels><?xml version="1.0" encoding="UTF-8" standalone="yes" ?><Relationships xmlns="http://schemas.openxmlformats.org/package/2006/relationships"><Relationship Id="rId2" Target="../media/image15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13817"/>
            <a:ext cx="7772400" cy="1470025"/>
          </a:xfrm>
        </p:spPr>
        <p:txBody>
          <a:bodyPr/>
          <a:lstStyle/>
          <a:p>
            <a:r>
              <a:rPr dirty="0"/>
              <a:t>Horticulture in Nepal: Definition, Branches, Importance, and Indigenous Fruits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042416" y="2406396"/>
            <a:ext cx="6400800" cy="1752600"/>
          </a:xfrm>
        </p:spPr>
        <p:txBody>
          <a:bodyPr/>
          <a:lstStyle/>
          <a:p>
            <a:r>
              <a:rPr dirty="0"/>
              <a:t>Presented by: Bikas Basnet</a:t>
            </a:r>
          </a:p>
          <a:p>
            <a:r>
              <a:rPr dirty="0"/>
              <a:t>Date: July 6, 2025</a:t>
            </a:r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B93B32-AD33-4227-B93F-247DA7666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8561"/>
            <a:ext cx="2755392" cy="3139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8187C5-B561-448E-8B5C-7E2120594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392" y="3754947"/>
            <a:ext cx="2901696" cy="31030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EACFBC-B2C7-4A46-9D16-299027E7C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088" y="2695576"/>
            <a:ext cx="3486912" cy="41624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88886-BC62-45B9-87C6-D33A2D3ED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41" y="-382933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Technologia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143C7D7-3AE2-4F26-B521-1E486BD8D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4320385">
            <a:off x="995568" y="788066"/>
            <a:ext cx="3347568" cy="4525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E12C45-18EC-486D-A8F6-917E824DE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562560">
            <a:off x="6380135" y="1844877"/>
            <a:ext cx="2798078" cy="27286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1392EF-D6AC-4C18-9857-E245FF46E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240" y="3915378"/>
            <a:ext cx="3511296" cy="29426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D3356B-5B2D-44BD-AD8B-E5D92E7B16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6368" y="4632960"/>
            <a:ext cx="3157631" cy="22250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4F0086-6534-45B3-BF04-EDF8721FA9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15378"/>
            <a:ext cx="2682240" cy="29426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859EB7-7A7C-44AE-B799-BE272D89C8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9110" y="4163"/>
            <a:ext cx="2619375" cy="17430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D04DEF-E2D8-4A4B-AD06-EB7523A32F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86459"/>
            <a:ext cx="3035808" cy="21214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3775F6-F56D-4747-BFA5-6FEF6EEBC6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5056" y="438912"/>
            <a:ext cx="3235186" cy="19141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967D76-E32C-4268-8CB2-714D54B3EC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8944" y="2362199"/>
            <a:ext cx="2115607" cy="213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83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FF00"/>
                </a:solidFill>
              </a:rPr>
              <a:t>Definition and Meaning of Horticulture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sz="1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 Horticulture</a:t>
            </a:r>
            <a:r>
              <a:rPr lang="en-US" sz="1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 and art of cultivating garden crops, including fruits, vegetables, ornamental plants, spices, and medicinal herbs, focusing on intensive management for production and </a:t>
            </a:r>
            <a:r>
              <a:rPr dirty="0">
                <a:solidFill>
                  <a:srgbClr val="FFFF00"/>
                </a:solidFill>
              </a:rPr>
              <a:t>enhancement.</a:t>
            </a:r>
            <a:endParaRPr lang="en-US" dirty="0">
              <a:solidFill>
                <a:srgbClr val="FFFF00"/>
              </a:solidFill>
            </a:endParaRPr>
          </a:p>
          <a:p>
            <a:pPr>
              <a:defRPr sz="2000"/>
            </a:pPr>
            <a:endParaRPr dirty="0">
              <a:solidFill>
                <a:srgbClr val="FFFF00"/>
              </a:solidFill>
            </a:endParaRPr>
          </a:p>
          <a:p>
            <a:pPr>
              <a:defRPr sz="2000"/>
            </a:pPr>
            <a:endParaRPr lang="en-US" dirty="0">
              <a:solidFill>
                <a:srgbClr val="FFFF00"/>
              </a:solidFill>
            </a:endParaRPr>
          </a:p>
          <a:p>
            <a:pPr>
              <a:defRPr sz="2000"/>
            </a:pPr>
            <a:endParaRPr lang="en-US" dirty="0">
              <a:solidFill>
                <a:srgbClr val="FFFF00"/>
              </a:solidFill>
            </a:endParaRPr>
          </a:p>
          <a:p>
            <a:pPr>
              <a:defRPr sz="2000"/>
            </a:pPr>
            <a:endParaRPr lang="en-US" dirty="0">
              <a:solidFill>
                <a:srgbClr val="FFFF00"/>
              </a:solidFill>
            </a:endParaRPr>
          </a:p>
          <a:p>
            <a:pPr>
              <a:defRPr sz="2000"/>
            </a:pPr>
            <a:endParaRPr lang="en-US" dirty="0">
              <a:solidFill>
                <a:srgbClr val="FFFF00"/>
              </a:solidFill>
            </a:endParaRPr>
          </a:p>
          <a:p>
            <a:pPr marL="0" indent="0">
              <a:buNone/>
              <a:defRPr sz="2000"/>
            </a:pPr>
            <a:r>
              <a:rPr b="1" dirty="0">
                <a:solidFill>
                  <a:srgbClr val="FFFF00"/>
                </a:solidFill>
              </a:rPr>
              <a:t>Derived from Latin 'hortus' (garden) and '</a:t>
            </a:r>
            <a:r>
              <a:rPr b="1" dirty="0" err="1">
                <a:solidFill>
                  <a:srgbClr val="FFFF00"/>
                </a:solidFill>
              </a:rPr>
              <a:t>cultura</a:t>
            </a:r>
            <a:r>
              <a:rPr b="1" dirty="0">
                <a:solidFill>
                  <a:srgbClr val="FFFF00"/>
                </a:solidFill>
              </a:rPr>
              <a:t>' (cultivation), it involves meticulous care in planting, growth manipulation, harvesting, and marketing, often in protected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656BAC-99C2-4FB5-84E6-478A18C8F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14E5188-3291-46EA-BB7E-328DEBC2C006}"/>
              </a:ext>
            </a:extLst>
          </p:cNvPr>
          <p:cNvSpPr/>
          <p:nvPr/>
        </p:nvSpPr>
        <p:spPr>
          <a:xfrm>
            <a:off x="1821017" y="4674215"/>
            <a:ext cx="191751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Olericulture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43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1E86F9DE-FC51-427C-B4D6-AE5A169C4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504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Horticulture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Nutritional Value: Provides essential vitamins, minerals, and nutrients through fruits and vegetables, combating malnutrition.</a:t>
            </a:r>
          </a:p>
          <a:p>
            <a:pPr>
              <a:defRPr sz="2000"/>
            </a:pPr>
            <a:r>
              <a:t>Economic Benefits: Higher yields per hectare (e.g., bananas yield 15M calories/acre vs. wheat’s 1M).</a:t>
            </a:r>
          </a:p>
          <a:p>
            <a:pPr>
              <a:defRPr sz="2000"/>
            </a:pPr>
            <a:r>
              <a:t>Employment Generation: Creates 860 man-days/year for fruit crops vs. 143 for cereals.</a:t>
            </a:r>
          </a:p>
          <a:p>
            <a:pPr>
              <a:defRPr sz="2000"/>
            </a:pPr>
            <a:r>
              <a:t>Industrial Input: Supports industries like canning, juice production, and essential oils.</a:t>
            </a:r>
          </a:p>
          <a:p>
            <a:pPr>
              <a:defRPr sz="2000"/>
            </a:pPr>
            <a:r>
              <a:t>Environmental Impact: Enhances aesthetics, reduces erosion, and improves air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Horticulture in Nepal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Agro-Climatic Diversity: Nepal’s tropical (75-750m), subtropical (750-1500m), and temperate (&gt;2000m) zones support diverse crops.</a:t>
            </a:r>
          </a:p>
          <a:p>
            <a:pPr>
              <a:defRPr sz="2000"/>
            </a:pPr>
            <a:r>
              <a:t>Export Potential: Mandarin, sweet orange, large cardamom, and off-season vegetables have international demand.</a:t>
            </a:r>
          </a:p>
          <a:p>
            <a:pPr>
              <a:defRPr sz="2000"/>
            </a:pPr>
            <a:r>
              <a:t>Urbanization: By 2030, 50% of Nepal’s population will be urban, increasing demand for horticultural products.</a:t>
            </a:r>
          </a:p>
          <a:p>
            <a:pPr>
              <a:defRPr sz="2000"/>
            </a:pPr>
            <a:r>
              <a:t>Employment Opportunities: Production, processing, and marketing create jobs for rural and urban youth.</a:t>
            </a:r>
          </a:p>
          <a:p>
            <a:pPr>
              <a:defRPr sz="2000"/>
            </a:pPr>
            <a:r>
              <a:t>Import Substitution: Local production of mango, banana, and vegetables can reduce imports (e.g., apples: NRs 1.9B).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*Figure*: Map of Nepal highlighting agro-ecological zones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Fruit Crops in Nepal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Tropical (75-750m): Mango, banana, pineapple, jackfruit, papaya.</a:t>
            </a:r>
          </a:p>
          <a:p>
            <a:pPr>
              <a:defRPr sz="2000"/>
            </a:pPr>
            <a:r>
              <a:t>Subtropical (750-1500m): Citrus (mandarin, sweet orange, lime), guava, pomegranate.</a:t>
            </a:r>
          </a:p>
          <a:p>
            <a:pPr>
              <a:defRPr sz="2000"/>
            </a:pPr>
            <a:r>
              <a:t>Temperate (&gt;2000m): Apple, pear, walnut, apricot, peach, plum.</a:t>
            </a:r>
          </a:p>
          <a:p>
            <a:pPr>
              <a:defRPr sz="2000"/>
            </a:pPr>
            <a:r>
              <a:t>Plantation Crops: Large cardamom, coffee, tea.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*Figure*: Table categorizing fruit crops by climatic zones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Indigenous Fruit Crops in Nepal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Ainselu (Rubus ellipticus): Golden Himalayan raspberry, grows wild in hills.</a:t>
            </a:r>
          </a:p>
          <a:p>
            <a:pPr>
              <a:defRPr sz="2000"/>
            </a:pPr>
            <a:r>
              <a:t>Kafal (Myrica esculenta): Nutritious wild fruit in mid-hills.</a:t>
            </a:r>
          </a:p>
          <a:p>
            <a:pPr>
              <a:defRPr sz="2000"/>
            </a:pPr>
            <a:r>
              <a:t>Jamun (Syzygium cumini): Found in jungles, rich in antioxidants.</a:t>
            </a:r>
          </a:p>
          <a:p>
            <a:pPr>
              <a:defRPr sz="2000"/>
            </a:pPr>
            <a:r>
              <a:t>Chiuri (Diploknema butyracea): Valued by Chepang community, used for butter and oil.</a:t>
            </a:r>
          </a:p>
          <a:p>
            <a:pPr>
              <a:defRPr sz="2000"/>
            </a:pPr>
            <a:r>
              <a:t>Chutro (Berberis asiatica): Shrub with wine-making potential.</a:t>
            </a:r>
          </a:p>
          <a:p>
            <a:pPr>
              <a:defRPr sz="2000"/>
            </a:pPr>
            <a:r>
              <a:t>Others: Bael, chestnut, citron, figs, olive, prunes.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*Figure*: Photos of ainselu, kafal, and chiuri fruits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Exploring Indigenous Fruit Crops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Conservation Needs: Many indigenous fruits are underutilized and lack research.</a:t>
            </a:r>
          </a:p>
          <a:p>
            <a:pPr>
              <a:defRPr sz="2000"/>
            </a:pPr>
            <a:r>
              <a:t>Cultural Significance: Chiuri is a dowry tradition among Chepangs.</a:t>
            </a:r>
          </a:p>
          <a:p>
            <a:pPr>
              <a:defRPr sz="2000"/>
            </a:pPr>
            <a:r>
              <a:t>Nutritional Benefits: Provide food security and nutrition to rural communities.</a:t>
            </a:r>
          </a:p>
          <a:p>
            <a:pPr>
              <a:defRPr sz="2000"/>
            </a:pPr>
            <a:r>
              <a:t>Challenges: Modernization and habitat destruction threaten indigenous varieties.</a:t>
            </a:r>
          </a:p>
          <a:p>
            <a:pPr>
              <a:defRPr sz="2000"/>
            </a:pPr>
            <a:r>
              <a:t>Opportunities: Promote commercialization to reduce import dependency (e.g., walnuts, figs).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*Figure*: Flowchart showing conservation and commercialization process for indigenous fruits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Horticulture is vital for Nepal’s nutrition, economy, and environment.</a:t>
            </a:r>
          </a:p>
          <a:p>
            <a:pPr>
              <a:defRPr sz="2000"/>
            </a:pPr>
            <a:r>
              <a:t>Diverse branches and agro-climatic zones offer immense scope.</a:t>
            </a:r>
          </a:p>
          <a:p>
            <a:pPr>
              <a:defRPr sz="2000"/>
            </a:pPr>
            <a:r>
              <a:t>Indigenous fruits like ainselu and chiuri hold untapped potential for food security and cultural preservation.</a:t>
            </a:r>
          </a:p>
          <a:p>
            <a:pPr>
              <a:defRPr sz="2000"/>
            </a:pPr>
            <a:r>
              <a:t>Future Focus: Research, conservation, and commercialization of indigenous crops.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*Figure*: Collage of Nepalese horticultural products (fruits, vegetables, flowers)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Helpforag.app, 2018.</a:t>
            </a:r>
          </a:p>
          <a:p>
            <a:pPr>
              <a:defRPr sz="2000"/>
            </a:pPr>
            <a:r>
              <a:t>Slideshare.net, 2024.</a:t>
            </a:r>
          </a:p>
          <a:p>
            <a:pPr>
              <a:defRPr sz="2000"/>
            </a:pPr>
            <a:r>
              <a:t>Slideshare.net, 2024.</a:t>
            </a:r>
          </a:p>
          <a:p>
            <a:pPr>
              <a:defRPr sz="2000"/>
            </a:pPr>
            <a:r>
              <a:t>Biologynotesonline.com, 2024.</a:t>
            </a:r>
          </a:p>
          <a:p>
            <a:pPr>
              <a:defRPr sz="2000"/>
            </a:pPr>
            <a:r>
              <a:t>Researchgate.net, 2019.</a:t>
            </a:r>
          </a:p>
          <a:p>
            <a:pPr>
              <a:defRPr sz="2000"/>
            </a:pPr>
            <a:r>
              <a:t>Slideshare.net, 2024.</a:t>
            </a:r>
          </a:p>
          <a:p>
            <a:pPr>
              <a:defRPr sz="2000"/>
            </a:pPr>
            <a:r>
              <a:t>Slideshare.net, 2019.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*Figure*: Nepalese flag with a horticultural garden background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672</Words>
  <Application>Microsoft Office PowerPoint</Application>
  <PresentationFormat>On-screen Show (4:3)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Horticulture in Nepal: Definition, Branches, Importance, and Indigenous Fruits</vt:lpstr>
      <vt:lpstr>Technologia</vt:lpstr>
      <vt:lpstr>Definition and Meaning of Horticulture</vt:lpstr>
      <vt:lpstr>PowerPoint Presentation</vt:lpstr>
      <vt:lpstr>PowerPoint Presentation</vt:lpstr>
      <vt:lpstr>Importance of Horticulture</vt:lpstr>
      <vt:lpstr>Scope of Horticulture in Nepal</vt:lpstr>
      <vt:lpstr>Types of Fruit Crops in Nepal</vt:lpstr>
      <vt:lpstr>Indigenous Fruit Crops in Nepal</vt:lpstr>
      <vt:lpstr>Exploring Indigenous Fruit Crops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Horticulture in Nepal: Definition, Branches, Importance, and Indigenous Fruits</dc:title>
  <dc:subject/>
  <dc:creator/>
  <cp:keywords/>
  <dc:description>generated using python-pptx</dc:description>
  <cp:lastModifiedBy>Bikas Basnet</cp:lastModifiedBy>
  <cp:revision>6</cp:revision>
  <dcterms:created xsi:type="dcterms:W3CDTF">2013-01-27T09:14:16Z</dcterms:created>
  <dcterms:modified xsi:type="dcterms:W3CDTF">2025-07-06T05:51:29Z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660178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S10.3.1</vt:lpwstr>
  </property>
</Properties>
</file>