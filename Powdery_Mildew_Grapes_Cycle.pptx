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1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Powdery Mildew of Grapes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Inoculation, Infection, and Pathogen Multiplication Cycl</a:t>
            </a:r>
            <a:r>
              <a:rPr lang="en-US" dirty="0"/>
              <a:t>e</a:t>
            </a:r>
          </a:p>
          <a:p>
            <a:r>
              <a:rPr dirty="0"/>
              <a:t>Caused by *</a:t>
            </a:r>
            <a:r>
              <a:rPr i="1" dirty="0"/>
              <a:t>Erysiphe </a:t>
            </a:r>
            <a:r>
              <a:rPr i="1" dirty="0" err="1"/>
              <a:t>necator</a:t>
            </a:r>
            <a:r>
              <a:rPr dirty="0"/>
              <a:t>*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5C86C-9137-4858-85B8-F8019008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903" y="3429000"/>
            <a:ext cx="4205097" cy="33436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F1D1AE-E01E-4673-84CB-EEA66CDD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572000" cy="3453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Major fungal disease of grapevines</a:t>
            </a:r>
          </a:p>
          <a:p>
            <a:r>
              <a:rPr dirty="0"/>
              <a:t>• Caused by Erysiphe </a:t>
            </a:r>
            <a:r>
              <a:rPr dirty="0" err="1"/>
              <a:t>necator</a:t>
            </a:r>
            <a:r>
              <a:rPr dirty="0"/>
              <a:t> (</a:t>
            </a:r>
            <a:r>
              <a:rPr i="1" dirty="0"/>
              <a:t>obligate biotroph</a:t>
            </a:r>
            <a:r>
              <a:rPr dirty="0"/>
              <a:t>)</a:t>
            </a:r>
          </a:p>
          <a:p>
            <a:r>
              <a:rPr dirty="0"/>
              <a:t>• Affects leaves, shoots, and berries</a:t>
            </a:r>
          </a:p>
          <a:p>
            <a:r>
              <a:rPr dirty="0"/>
              <a:t>• Prefers warm, dry days and humid nights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Disease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Overwintering</a:t>
            </a:r>
          </a:p>
          <a:p>
            <a:r>
              <a:t>2. Primary Inoculum</a:t>
            </a:r>
          </a:p>
          <a:p>
            <a:r>
              <a:t>3. Inoculation</a:t>
            </a:r>
          </a:p>
          <a:p>
            <a:r>
              <a:t>4. Infection</a:t>
            </a:r>
          </a:p>
          <a:p>
            <a:r>
              <a:t>5. Colonization</a:t>
            </a:r>
          </a:p>
          <a:p>
            <a:r>
              <a:t>6. Sporulation</a:t>
            </a:r>
          </a:p>
          <a:p>
            <a:r>
              <a:t>7. Secondary Spread</a:t>
            </a:r>
          </a:p>
          <a:p>
            <a:r>
              <a:t>8. Overwintering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Overwintering (Survival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Survives as cleistothecia on bark or fallen leaves</a:t>
            </a:r>
          </a:p>
          <a:p>
            <a:r>
              <a:t>• Mycelium can survive in dormant buds</a:t>
            </a:r>
          </a:p>
          <a:p>
            <a:r>
              <a:t>• Becomes active in spring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86A4DD-126A-43C5-A68C-210554832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01440"/>
            <a:ext cx="4572000" cy="2956560"/>
          </a:xfrm>
          <a:prstGeom prst="rect">
            <a:avLst/>
          </a:prstGeom>
        </p:spPr>
      </p:pic>
      <p:pic>
        <p:nvPicPr>
          <p:cNvPr id="1026" name="Picture 2" descr="Naturalist has new ideas about fungi">
            <a:extLst>
              <a:ext uri="{FF2B5EF4-FFF2-40B4-BE49-F238E27FC236}">
                <a16:creationId xmlns:a16="http://schemas.microsoft.com/office/drawing/2014/main" id="{0A04EA3F-A67F-4F37-A759-23C268BB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01440"/>
            <a:ext cx="4572000" cy="295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Inoculum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Ascospores released from cleistothecia</a:t>
            </a:r>
          </a:p>
          <a:p>
            <a:r>
              <a:t>• Wet spring conditions trigger release</a:t>
            </a:r>
          </a:p>
          <a:p>
            <a:r>
              <a:t>• Wind-dispersed to young grape tissues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53B7A-17D4-4DA0-8E37-0FBE87F47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4" y="3429000"/>
            <a:ext cx="5102733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Inoculation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Spores land on host tissue (leaves, shoots)</a:t>
            </a:r>
          </a:p>
          <a:p>
            <a:r>
              <a:t>• Germinate under high humidity (60–90%)</a:t>
            </a:r>
          </a:p>
          <a:p>
            <a:r>
              <a:t>• Do not require free water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8BE9C-22FE-4536-89C9-1C4096EA3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3429000"/>
            <a:ext cx="5219700" cy="3571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Germ tube penetrates epidermal cells</a:t>
            </a:r>
          </a:p>
          <a:p>
            <a:r>
              <a:t>• Forms haustoria for nutrient uptake</a:t>
            </a:r>
          </a:p>
          <a:p>
            <a:r>
              <a:t>• Colonization remains superficial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1D839-929C-4118-8DD1-778B04AA0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073" y="3668268"/>
            <a:ext cx="4749927" cy="3189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Pathogen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Mycelium spreads across surface</a:t>
            </a:r>
          </a:p>
          <a:p>
            <a:r>
              <a:t>• Produces large numbers of conidia</a:t>
            </a:r>
          </a:p>
          <a:p>
            <a:r>
              <a:t>• Conidia serve as secondary inoculum</a:t>
            </a:r>
          </a:p>
          <a:p>
            <a:r>
              <a:t>• Several infection cycles in one season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01B3A-99F2-44A7-90FA-07EE45A34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548" y="3964114"/>
            <a:ext cx="3989451" cy="28938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Colonization &amp; Symptom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White powdery growth on leaves, berries</a:t>
            </a:r>
          </a:p>
          <a:p>
            <a:r>
              <a:t>• Leaf curling, shoot stunting, berry scarring</a:t>
            </a:r>
          </a:p>
          <a:p>
            <a:r>
              <a:t>• Reduces photosynthesis and fruit quality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E294E-FE5E-4D6F-9577-1A4CF74FD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3429000"/>
            <a:ext cx="4462272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AC426-7C03-4812-BCE6-2EE561E06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Secondary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Wind-dispersed conidia infect new tissues</a:t>
            </a:r>
          </a:p>
          <a:p>
            <a:r>
              <a:t>• Multiple cycles during growing season</a:t>
            </a:r>
          </a:p>
          <a:p>
            <a:r>
              <a:t>• Epidemics occur under ideal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04B55-BEFC-481E-8A2B-34434CCB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3429000"/>
            <a:ext cx="4612390" cy="33131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Optimal temperature: 20–27°C</a:t>
            </a:r>
          </a:p>
          <a:p>
            <a:r>
              <a:rPr dirty="0"/>
              <a:t>• High relative humidity</a:t>
            </a:r>
          </a:p>
          <a:p>
            <a:r>
              <a:rPr dirty="0"/>
              <a:t>• Dry leaf surfaces (no rain needed)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598E2-6B29-47CC-AEF8-13C17E2F2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912" y="3429001"/>
            <a:ext cx="565708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Polycyclic disease with fast spread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Agrios, G.N. (2005). Plant Pathology</a:t>
            </a:r>
          </a:p>
          <a:p>
            <a:r>
              <a:t>• Pearson &amp; Goheen (1988). Compendium of Grape Diseases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297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Powdery Mildew of Grapes</vt:lpstr>
      <vt:lpstr>Introduction</vt:lpstr>
      <vt:lpstr>Overview of Disease Cycle</vt:lpstr>
      <vt:lpstr>Overwintering (Survival Phase)</vt:lpstr>
      <vt:lpstr>Primary Inoculum Release</vt:lpstr>
      <vt:lpstr>Inoculation</vt:lpstr>
      <vt:lpstr>Infection</vt:lpstr>
      <vt:lpstr>Pathogen Multiplication</vt:lpstr>
      <vt:lpstr>Colonization &amp; Symptom Development</vt:lpstr>
      <vt:lpstr>Secondary Spread</vt:lpstr>
      <vt:lpstr>Environmental Conditions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Powdery Mildew of Grapes</dc:title>
  <dc:subject/>
  <dc:creator/>
  <cp:keywords/>
  <dc:description>generated using python-pptx</dc:description>
  <cp:lastModifiedBy>Bikas Basnet</cp:lastModifiedBy>
  <cp:revision>6</cp:revision>
  <dcterms:created xsi:type="dcterms:W3CDTF">2013-01-27T09:14:16Z</dcterms:created>
  <dcterms:modified xsi:type="dcterms:W3CDTF">2025-06-22T05:08:01Z</dcterms:modified>
  <cp:category/>
</cp:coreProperties>
</file>